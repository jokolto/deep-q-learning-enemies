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57" r:id="rId4"/>
    <p:sldId id="258" r:id="rId5"/>
    <p:sldId id="259" r:id="rId6"/>
    <p:sldId id="263" r:id="rId7"/>
    <p:sldId id="260" r:id="rId8"/>
    <p:sldId id="264" r:id="rId9"/>
    <p:sldId id="26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932" autoAdjust="0"/>
  </p:normalViewPr>
  <p:slideViewPr>
    <p:cSldViewPr snapToGrid="0">
      <p:cViewPr>
        <p:scale>
          <a:sx n="72" d="100"/>
          <a:sy n="72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751FF-C2F1-4A41-AAF6-CE121F27F6E4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EB10F-B22D-46C5-8D95-C26EC3EC1DD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6387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B10F-B22D-46C5-8D95-C26EC3EC1DDC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7919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Das heisst, dass sie aus Handlungen vom Spieler ihr Verhalten anpassen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B10F-B22D-46C5-8D95-C26EC3EC1DDC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9087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RL – anders als </a:t>
            </a:r>
            <a:r>
              <a:rPr lang="de-CH" dirty="0" err="1"/>
              <a:t>Supervised</a:t>
            </a:r>
            <a:r>
              <a:rPr lang="de-CH" dirty="0"/>
              <a:t> Learning</a:t>
            </a:r>
          </a:p>
          <a:p>
            <a:r>
              <a:rPr lang="de-CH" dirty="0"/>
              <a:t>Zustand – NN - Aktionen</a:t>
            </a:r>
          </a:p>
          <a:p>
            <a:r>
              <a:rPr lang="de-CH" dirty="0"/>
              <a:t>Zustand An Beispiel von Menschen - , waren sensorische Daten von uns (wie Bild von Augen, Geräusche, Berührung was auch immer)</a:t>
            </a:r>
          </a:p>
          <a:p>
            <a:r>
              <a:rPr lang="de-CH" dirty="0"/>
              <a:t>Aktionen Anhand gleicher Beispiel  – </a:t>
            </a:r>
            <a:r>
              <a:rPr lang="de-CH" dirty="0" err="1"/>
              <a:t>bsp</a:t>
            </a:r>
            <a:r>
              <a:rPr lang="de-CH" dirty="0"/>
              <a:t>: laufen, sprechen, aus Fenster springen, usw.</a:t>
            </a:r>
          </a:p>
          <a:p>
            <a:r>
              <a:rPr lang="de-CH" dirty="0"/>
              <a:t>Q-werte wie sagen wie gut eine Aktion ist, </a:t>
            </a:r>
            <a:r>
              <a:rPr lang="de-CH" dirty="0" err="1"/>
              <a:t>bsp.</a:t>
            </a:r>
            <a:endParaRPr lang="de-CH" dirty="0"/>
          </a:p>
          <a:p>
            <a:r>
              <a:rPr lang="de-CH" dirty="0"/>
              <a:t>NN schwieriger trainieren, da keine Labels – aber </a:t>
            </a:r>
            <a:r>
              <a:rPr lang="de-CH" dirty="0" err="1"/>
              <a:t>rewards</a:t>
            </a:r>
            <a:endParaRPr lang="de-CH" dirty="0"/>
          </a:p>
          <a:p>
            <a:r>
              <a:rPr lang="de-CH" dirty="0"/>
              <a:t>Belohnungen - einfache Zahlen die Q-wert ändern, </a:t>
            </a:r>
            <a:r>
              <a:rPr lang="de-CH" dirty="0" err="1"/>
              <a:t>bsp.</a:t>
            </a:r>
            <a:r>
              <a:rPr lang="de-CH" dirty="0"/>
              <a:t> Starke negative Belohnung wenn springen</a:t>
            </a:r>
          </a:p>
          <a:p>
            <a:endParaRPr lang="de-CH" dirty="0"/>
          </a:p>
          <a:p>
            <a:r>
              <a:rPr lang="de-CH" dirty="0"/>
              <a:t>Nicht ganz beschrieben, noch einige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B10F-B22D-46C5-8D95-C26EC3EC1DDC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4303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B10F-B22D-46C5-8D95-C26EC3EC1DDC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5716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Die Bewegung-Aktionen sind auf Spieler bezogen.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B10F-B22D-46C5-8D95-C26EC3EC1DDC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0202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B10F-B22D-46C5-8D95-C26EC3EC1DDC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0731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3B216-9B4A-11AB-58A0-2A7F3F817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62F037-2E03-7455-FBFD-AD2BA7731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FB3EE6-6DF9-3520-C2D0-17EBD8E3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52FB10-0ED8-73F7-5AAE-29AC447F5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BD0433-A109-608C-A7B9-365EAFBF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5259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765390-BEAD-F82E-F74C-E9510025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5CC2D6-F85B-F497-3936-84736B2C8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0A0BE3-6841-D7E9-D018-72950BAF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E5E0F0-C86C-BE34-D8EE-B6DA11A6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6A7561-5120-FC5D-A991-473090E7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842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C53E9-FB4A-8635-13F6-5B704B30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61BF90-A784-B889-3B97-F8F88058E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B1C528-ED0E-E38C-5C8F-8DC702BB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7F360F-9AD6-86C2-0AAF-399EE266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8B692A-3C22-665A-8CEC-FEEB2417C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7385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F00D1-B9E2-3A5B-E42F-89B6D967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C7B93D-F969-FC0A-59EB-8B9A1FA41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5AFF2D8-E244-67C0-9FDD-8AC0A2672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2B9795-7905-C2CF-2818-E7EAD2D8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3E30EE-1E5E-FE05-F091-9262AA97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D52608-F74C-510D-DA2A-D53B6EDC5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022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8D1D5E-74D8-5287-FBDE-B13A661B4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1F77F0-7ADC-5C7E-381B-337A3A05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FAEBE3-5934-79AE-227D-3D55A46E6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4B4971-9A18-23C7-A1F6-E68C3D204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8622645-F0F5-9B6F-0BC8-2962806E7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18831EB-C6CB-50A7-17B2-D4B1E389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FC1180-DF4A-C0C3-0E6B-A94830F4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1F2B992-246B-4313-F8DB-E78BEAB0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703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94C935-610A-1F7E-7CC6-9A4F9C78E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C9C779-3F71-02EF-5B96-27C47675B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2DEC13-E6DB-17A0-8753-E23EADF0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B54FBE-E8FC-9F5F-7E8F-0F1A0AF3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767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63FE50F-EB7B-98D6-9070-6AD23269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2EB20F8-FBAD-C8C5-3BD1-F25521A0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78839C-3D57-6C1D-51F2-36D452A4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605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0CDB45-DDE9-A6BC-5EBB-5ED1BD1F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A3955B-99C2-375E-10F2-F70D25CD5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2D23B5-DC40-9194-3ACB-C954CD197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BC2E5C-31E8-5A35-D262-1A520D35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4DEAA6-04F7-58DA-150D-9604D03C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F875E2-2B51-8442-614C-CB538ED5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9721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23B8D-C83E-2FCE-D956-4956BE6B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6E65107-D032-2E51-E7C3-161243804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A68449-2927-CF3D-D704-D960B1E92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DB695F-553E-A33B-CDB0-46B2392E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451728-9347-C64D-7AF4-42F67D39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C2D2B7-DD6F-4EF1-7C9D-4E5065D1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6543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80F57F-2368-5C21-75B1-83282D38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118D8B-0E79-AF45-7A77-903DE9AE4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CD0C6F-7662-8334-556B-5B25230D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EE6086-ACBB-DB88-3DE6-EBA6A2FA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E317C3-7600-1B79-60C1-6320DB1C8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7815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19E6383-A961-65C1-00FC-27669E6B0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C3A4DF-0CDA-A504-C2BC-C7D7AE2BD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2F5FF3-2902-7541-E226-EEC105E8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9AC260-6561-075A-DBA7-64D87D7F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4CFFCC-BA27-4D41-E4B1-17AD09D0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012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E3BE178-A4CF-EF46-0BFF-20F3C1CAB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92DDAD-697B-CE2C-EF1E-AF01A9A24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494852-BDDE-C38F-7D3E-C12E76A8D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6B255-E1F8-4ECC-A41B-ACF357859FB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272282-2711-3142-AED8-5FF48B073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33BE69-6B3C-3008-3F0C-58828D4AC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BB8A1-F17E-4C19-BC60-CBC93E345F2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723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007AC-25FA-4F7C-4F46-6E15B0F7A8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Gegner lernen!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8DC1D1-6D12-11D2-16D9-A91DFC34F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(versuchen zumindest)</a:t>
            </a:r>
          </a:p>
        </p:txBody>
      </p:sp>
    </p:spTree>
    <p:extLst>
      <p:ext uri="{BB962C8B-B14F-4D97-AF65-F5344CB8AC3E}">
        <p14:creationId xmlns:p14="http://schemas.microsoft.com/office/powerpoint/2010/main" val="3928528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DBEC79-FDBF-6230-A4E6-5E3636CE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Ein bisschen Kontext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04ADB7-1CE9-F1EA-765E-7E08673B0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Das Projekt ist wie die Weiterarbeit an der Maturaarbeit</a:t>
            </a:r>
          </a:p>
          <a:p>
            <a:r>
              <a:rPr lang="de-CH" dirty="0"/>
              <a:t>Ziel: Adaptive Gegner in einem Spiel</a:t>
            </a:r>
          </a:p>
          <a:p>
            <a:pPr marL="0" indent="0">
              <a:buNone/>
            </a:pPr>
            <a:r>
              <a:rPr lang="de-CH" dirty="0"/>
              <a:t>-&gt; Online </a:t>
            </a:r>
            <a:r>
              <a:rPr lang="de-CH" dirty="0" err="1"/>
              <a:t>Machine</a:t>
            </a:r>
            <a:r>
              <a:rPr lang="de-CH" dirty="0"/>
              <a:t> Learning</a:t>
            </a:r>
          </a:p>
          <a:p>
            <a:r>
              <a:rPr lang="de-CH" dirty="0"/>
              <a:t>Früher mit anderem Algorithmus schon implementiert (Q-Learning)</a:t>
            </a:r>
          </a:p>
          <a:p>
            <a:r>
              <a:rPr lang="de-CH" dirty="0"/>
              <a:t>Nun mit Deep-Q verbessern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sz="1800" dirty="0"/>
              <a:t>Werbung: das Spiel ist immer online spielbar bei </a:t>
            </a:r>
            <a:r>
              <a:rPr lang="de-CH" sz="1800" i="1" u="sng" dirty="0"/>
              <a:t>jokolto.itch.io/</a:t>
            </a:r>
            <a:r>
              <a:rPr lang="de-CH" sz="1800" i="1" u="sng" dirty="0" err="1"/>
              <a:t>lcamp</a:t>
            </a:r>
            <a:endParaRPr lang="de-CH" sz="1800" i="1" u="sng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3450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DE7D4-3F6C-B21A-8646-0CE2AA672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Ein bisschen Theorie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E2447F-BF51-01DC-15C3-087714D62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7401" y="1847852"/>
            <a:ext cx="3267148" cy="4351338"/>
          </a:xfrm>
        </p:spPr>
        <p:txBody>
          <a:bodyPr/>
          <a:lstStyle/>
          <a:p>
            <a:r>
              <a:rPr lang="de-CH" dirty="0"/>
              <a:t>RL – keine Labels</a:t>
            </a:r>
          </a:p>
          <a:p>
            <a:r>
              <a:rPr lang="de-CH" dirty="0"/>
              <a:t>Zustand</a:t>
            </a:r>
          </a:p>
          <a:p>
            <a:r>
              <a:rPr lang="de-CH" dirty="0"/>
              <a:t>Q-Werte</a:t>
            </a:r>
          </a:p>
          <a:p>
            <a:r>
              <a:rPr lang="de-CH" dirty="0"/>
              <a:t>Lernen durch Belohnungen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0081DA54-95F8-EBA4-1467-CD845EE165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165494"/>
              </p:ext>
            </p:extLst>
          </p:nvPr>
        </p:nvGraphicFramePr>
        <p:xfrm>
          <a:off x="838201" y="1825626"/>
          <a:ext cx="7297172" cy="3643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6103332" imgH="3047659" progId="Acrobat.Document.DC">
                  <p:embed/>
                </p:oleObj>
              </mc:Choice>
              <mc:Fallback>
                <p:oleObj name="Acrobat Document" r:id="rId3" imgW="6103332" imgH="3047659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1" y="1825626"/>
                        <a:ext cx="7297172" cy="3643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6986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E34179-8D9C-3D37-ED7E-A276CE203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Datensatz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F696CDA-171E-9FCD-C2CE-9A5D78D2BB0F}"/>
              </a:ext>
            </a:extLst>
          </p:cNvPr>
          <p:cNvSpPr txBox="1">
            <a:spLocks/>
          </p:cNvSpPr>
          <p:nvPr/>
        </p:nvSpPr>
        <p:spPr>
          <a:xfrm>
            <a:off x="838200" y="1804360"/>
            <a:ext cx="48821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dirty="0"/>
              <a:t>Zustand – 10 Features:</a:t>
            </a:r>
          </a:p>
          <a:p>
            <a:r>
              <a:rPr lang="de-CH" dirty="0"/>
              <a:t>2 diskret </a:t>
            </a:r>
          </a:p>
          <a:p>
            <a:r>
              <a:rPr lang="de-CH" dirty="0"/>
              <a:t>8 kontinuierlich </a:t>
            </a:r>
          </a:p>
          <a:p>
            <a:r>
              <a:rPr lang="de-CH" dirty="0"/>
              <a:t>Beispiel Zustand von Gegner</a:t>
            </a:r>
          </a:p>
          <a:p>
            <a:pPr marL="0" indent="0">
              <a:buNone/>
            </a:pPr>
            <a:r>
              <a:rPr lang="de-CH" dirty="0"/>
              <a:t>---</a:t>
            </a:r>
            <a:r>
              <a:rPr lang="de-CH" dirty="0">
                <a:sym typeface="Wingdings" panose="05000000000000000000" pitchFamily="2" charset="2"/>
              </a:rPr>
              <a:t></a:t>
            </a:r>
            <a:endParaRPr lang="de-CH" dirty="0"/>
          </a:p>
          <a:p>
            <a:endParaRPr lang="en-US" dirty="0"/>
          </a:p>
          <a:p>
            <a:endParaRPr lang="de-CH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43C26BB-3633-1BA0-9C34-295E47D43ED2}"/>
              </a:ext>
            </a:extLst>
          </p:cNvPr>
          <p:cNvSpPr txBox="1"/>
          <p:nvPr/>
        </p:nvSpPr>
        <p:spPr>
          <a:xfrm>
            <a:off x="5936511" y="1684657"/>
            <a:ext cx="5786769" cy="45243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enemy1.state = {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weapon_type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player_weapon_type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pos_x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6769.5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pos_y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6967.4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dist_to_player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42.42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angle_to_player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0.13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bullet_dist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7.2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bullet_angle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0.13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dist_ally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1e9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angle_ally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0975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A861F7-B2D4-2C6C-FEEC-FB04AF1A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man so machen kann</a:t>
            </a:r>
          </a:p>
        </p:txBody>
      </p:sp>
      <p:pic>
        <p:nvPicPr>
          <p:cNvPr id="7" name="Grafik 6" descr="Ein Bild, das Pixel, Karte, Spielesoftware enthält.&#10;&#10;KI-generierte Inhalte können fehlerhaft sein.">
            <a:extLst>
              <a:ext uri="{FF2B5EF4-FFF2-40B4-BE49-F238E27FC236}">
                <a16:creationId xmlns:a16="http://schemas.microsoft.com/office/drawing/2014/main" id="{A316149B-3C47-31FE-0C59-351DD49C8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851" y="2580811"/>
            <a:ext cx="3793157" cy="28409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40C00B2E-E9B5-5176-5938-3A772594B4E3}"/>
              </a:ext>
            </a:extLst>
          </p:cNvPr>
          <p:cNvSpPr txBox="1"/>
          <p:nvPr/>
        </p:nvSpPr>
        <p:spPr>
          <a:xfrm>
            <a:off x="1092494" y="2567674"/>
            <a:ext cx="4734147" cy="30469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Enemy.</a:t>
            </a:r>
            <a:r>
              <a:rPr lang="en-US" sz="2400" b="0" dirty="0" err="1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ACTIONS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move_forward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strafe_left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strafe_right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"retreat"</a:t>
            </a: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use_weapon</a:t>
            </a:r>
            <a:r>
              <a:rPr lang="en-US" sz="2400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 "</a:t>
            </a:r>
            <a:endParaRPr lang="en-US" sz="2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buNone/>
            </a:pPr>
            <a:endParaRPr lang="en-US" sz="2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80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1DA09-816A-F744-7F22-87F53E02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man so lernen kann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A46F71-A7CF-457F-9860-E8FC0E826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419" y="2279096"/>
            <a:ext cx="5160334" cy="229980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de-CH" dirty="0"/>
              <a:t>Gute Positionierung relativ zu Spieler</a:t>
            </a:r>
          </a:p>
          <a:p>
            <a:pPr marL="514350" indent="-514350">
              <a:buAutoNum type="arabicPeriod"/>
            </a:pPr>
            <a:r>
              <a:rPr lang="de-CH" dirty="0"/>
              <a:t>Ausweichen</a:t>
            </a:r>
          </a:p>
          <a:p>
            <a:pPr marL="514350" indent="-514350">
              <a:buAutoNum type="arabicPeriod"/>
            </a:pPr>
            <a:r>
              <a:rPr lang="de-CH" dirty="0"/>
              <a:t>Richtige Timing zum Angreifen</a:t>
            </a: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D7E0A90-0828-83E7-A752-32FFA26693D4}"/>
              </a:ext>
            </a:extLst>
          </p:cNvPr>
          <p:cNvSpPr txBox="1"/>
          <p:nvPr/>
        </p:nvSpPr>
        <p:spPr>
          <a:xfrm>
            <a:off x="838200" y="2062827"/>
            <a:ext cx="5257800" cy="34163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DB707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REWARDS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"TOOK_DAMAGE"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"TIME_ALIVE"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"HIT_PLAYER"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"RETREATED"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"WASTED_MOVEMENT"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"MOVED_CLOSER"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"MISSED"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"DIED"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"STUCK"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2D69E"/>
                </a:solidFill>
                <a:effectLst/>
                <a:latin typeface="Consolas" panose="020B0609020204030204" pitchFamily="49" charset="0"/>
              </a:rPr>
              <a:t>"DODGED_BULLET"</a:t>
            </a: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EBB07A"/>
                </a:solidFill>
                <a:effectLst/>
                <a:latin typeface="Consolas" panose="020B0609020204030204" pitchFamily="49" charset="0"/>
              </a:rPr>
              <a:t>6</a:t>
            </a:r>
            <a:endParaRPr lang="en-US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3240276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533453-D955-4E5D-A4ED-8BAA7337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Vergleich, Resultate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0AD809-A44C-B505-89A6-8409F2C42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9316" cy="4351338"/>
          </a:xfrm>
        </p:spPr>
        <p:txBody>
          <a:bodyPr>
            <a:normAutofit/>
          </a:bodyPr>
          <a:lstStyle/>
          <a:p>
            <a:r>
              <a:rPr lang="de-CH" sz="3200" dirty="0"/>
              <a:t>Früher Q-Learning genutzt – rasche Fitnesserhöhung</a:t>
            </a:r>
          </a:p>
          <a:p>
            <a:r>
              <a:rPr lang="de-CH" sz="3200" dirty="0"/>
              <a:t>Auch Genetischer Algorithmus eingesetzt</a:t>
            </a:r>
          </a:p>
          <a:p>
            <a:r>
              <a:rPr lang="de-CH" sz="3200" dirty="0"/>
              <a:t>Mit Deep-Q, Gegner sind nicht so suizidal bzw. </a:t>
            </a:r>
            <a:r>
              <a:rPr lang="de-CH" sz="3200" dirty="0" err="1"/>
              <a:t>aggresiv</a:t>
            </a:r>
            <a:endParaRPr lang="de-CH" sz="3200" dirty="0"/>
          </a:p>
        </p:txBody>
      </p:sp>
      <p:pic>
        <p:nvPicPr>
          <p:cNvPr id="5" name="Grafik 4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12AB4FA4-8784-B7C6-9E94-FF6E7B0C6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5625"/>
            <a:ext cx="5074930" cy="409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680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DB7DE2-0DD3-B4A8-9E3F-711B66D9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F22766-EADB-2310-F84A-FC1D69439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Spezialisierte Umgebung – kein Spiel</a:t>
            </a:r>
          </a:p>
          <a:p>
            <a:r>
              <a:rPr lang="de-CH" dirty="0"/>
              <a:t>Starten durch Python</a:t>
            </a:r>
          </a:p>
        </p:txBody>
      </p:sp>
    </p:spTree>
    <p:extLst>
      <p:ext uri="{BB962C8B-B14F-4D97-AF65-F5344CB8AC3E}">
        <p14:creationId xmlns:p14="http://schemas.microsoft.com/office/powerpoint/2010/main" val="1721533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D6AD69-9FFC-E2D5-9450-F8582E8B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Reflexion und 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DF4622-2398-D066-F4CC-C55E86146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Lief gut:</a:t>
            </a:r>
          </a:p>
          <a:p>
            <a:r>
              <a:rPr lang="de-CH" dirty="0"/>
              <a:t>KI besser verstanden</a:t>
            </a:r>
          </a:p>
          <a:p>
            <a:r>
              <a:rPr lang="de-CH" dirty="0"/>
              <a:t>Spass gehabt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dirty="0"/>
              <a:t>Könnte besser sein:</a:t>
            </a:r>
          </a:p>
          <a:p>
            <a:r>
              <a:rPr lang="de-CH" dirty="0"/>
              <a:t>Weniger </a:t>
            </a:r>
            <a:r>
              <a:rPr lang="de-CH" dirty="0" err="1"/>
              <a:t>vibe-coding</a:t>
            </a:r>
            <a:endParaRPr lang="de-CH" dirty="0"/>
          </a:p>
          <a:p>
            <a:r>
              <a:rPr lang="de-CH" dirty="0"/>
              <a:t>Mehr Lernen Möglichkeit für die Gegner geben</a:t>
            </a:r>
          </a:p>
          <a:p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8443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Breitbild</PresentationFormat>
  <Paragraphs>93</Paragraphs>
  <Slides>9</Slides>
  <Notes>6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Wingdings</vt:lpstr>
      <vt:lpstr>Office</vt:lpstr>
      <vt:lpstr>Acrobat Document</vt:lpstr>
      <vt:lpstr>Gegner lernen!</vt:lpstr>
      <vt:lpstr>Ein bisschen Kontext</vt:lpstr>
      <vt:lpstr>Ein bisschen Theorie</vt:lpstr>
      <vt:lpstr>Datensatz</vt:lpstr>
      <vt:lpstr>Was man so machen kann</vt:lpstr>
      <vt:lpstr>Was man so lernen kann</vt:lpstr>
      <vt:lpstr>Vergleich, Resultate</vt:lpstr>
      <vt:lpstr>Demo</vt:lpstr>
      <vt:lpstr>Reflexion und 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Oleh Chekhovych</dc:creator>
  <cp:lastModifiedBy>Oleh Chekhovych</cp:lastModifiedBy>
  <cp:revision>7</cp:revision>
  <dcterms:created xsi:type="dcterms:W3CDTF">2026-02-10T19:27:34Z</dcterms:created>
  <dcterms:modified xsi:type="dcterms:W3CDTF">2026-02-11T13:40:43Z</dcterms:modified>
</cp:coreProperties>
</file>